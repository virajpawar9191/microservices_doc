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F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" y="20116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2011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Client Authentication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Core Concepts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8412480" cy="0"/>
          </a:xfrm>
          <a:prstGeom prst="line">
            <a:avLst/>
          </a:prstGeom>
          <a:noFill/>
          <a:ln w="1524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08760"/>
            <a:ext cx="4023360" cy="1600200"/>
          </a:xfrm>
          <a:prstGeom prst="rect">
            <a:avLst/>
          </a:prstGeom>
          <a:solidFill>
            <a:srgbClr val="172A4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508760"/>
            <a:ext cx="54864" cy="16002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by which the </a:t>
            </a:r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 verifies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 client application is who it claims to be before issuing tokens.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1600200"/>
          </a:xfrm>
          <a:prstGeom prst="rect">
            <a:avLst/>
          </a:prstGeom>
          <a:solidFill>
            <a:srgbClr val="172A45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6002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4791456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NEEDED?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91456" y="18288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token theft by rogue apps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least-privilege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auditing &amp; revocation per client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confidential clients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32186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METHODS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493008"/>
            <a:ext cx="2697480" cy="1417320"/>
          </a:xfrm>
          <a:prstGeom prst="rect">
            <a:avLst/>
          </a:prstGeom>
          <a:solidFill>
            <a:srgbClr val="172A4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493008"/>
            <a:ext cx="2697480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Secret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136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/ POST body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493008"/>
            <a:ext cx="2697480" cy="14173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493008"/>
            <a:ext cx="269748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Profile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0128" y="39136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7523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assertion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53328" y="3493008"/>
            <a:ext cx="2697480" cy="1417320"/>
          </a:xfrm>
          <a:prstGeom prst="rect">
            <a:avLst/>
          </a:prstGeom>
          <a:solidFill>
            <a:srgbClr val="172A45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3493008"/>
            <a:ext cx="26974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7" name="Text 25"/>
          <p:cNvSpPr/>
          <p:nvPr/>
        </p:nvSpPr>
        <p:spPr>
          <a:xfrm>
            <a:off x="6163056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63056" y="39136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8705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TLS cert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48920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6749 · RFC 7523 · RFC 8705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6459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C2FF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Authentication Methods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5120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Profile  ·  mTLS  ·  Key Differences  ·  Security Benefits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841248"/>
            <a:ext cx="4069080" cy="2194560"/>
          </a:xfrm>
          <a:prstGeom prst="rect">
            <a:avLst/>
          </a:prstGeom>
          <a:solidFill>
            <a:srgbClr val="172A45"/>
          </a:solidFill>
          <a:ln w="1905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841248"/>
            <a:ext cx="406908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9509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CLIENT AUTHENTICATION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188720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creates a signed JWT assertion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client's private key (RS256 / ES256)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contains: iss, sub, aud, exp, jti claims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signature using client's public key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transmitted over the wire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069080" cy="2194560"/>
          </a:xfrm>
          <a:prstGeom prst="rect">
            <a:avLst/>
          </a:prstGeom>
          <a:solidFill>
            <a:srgbClr val="172A45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406908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9509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AUTHENTICATION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28032" y="1188720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presents X.509 certificate in TLS handshake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 cert against trusted CA or thumbprint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verification: both sides authenticate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bound to token (cnf claim)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Phishing-resistant: cert cannot be reused elsewhere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" y="31455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401568"/>
          <a:ext cx="8412480" cy="1572768"/>
        </p:xfrm>
        <a:graphic>
          <a:graphicData uri="http://schemas.openxmlformats.org/drawingml/2006/table">
            <a:tbl>
              <a:tblPr/>
              <a:tblGrid>
                <a:gridCol w="1920240"/>
                <a:gridCol w="3246120"/>
                <a:gridCol w="3246120"/>
              </a:tblGrid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(HTTP)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(TLS)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JWT token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X.509 Certificate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(by 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cert-bound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  <a:tr h="3145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Mitigated via jti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— TLS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5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47472" y="491947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RFC 7523 · mTLS: RFC 8705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164592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645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1645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+ Certificate-Bound PoP 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51206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 ·  Internal Mechanics  ·  Real-World Use Case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14400"/>
            <a:ext cx="1463040" cy="1234440"/>
          </a:xfrm>
          <a:prstGeom prst="rect">
            <a:avLst/>
          </a:prstGeom>
          <a:solidFill>
            <a:srgbClr val="172A45"/>
          </a:solidFill>
          <a:ln w="2286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914400"/>
            <a:ext cx="146304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005840"/>
            <a:ext cx="365760" cy="365760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Cert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presents X.509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47088" y="1531620"/>
            <a:ext cx="210312" cy="0"/>
          </a:xfrm>
          <a:prstGeom prst="line">
            <a:avLst/>
          </a:prstGeom>
          <a:noFill/>
          <a:ln w="19050">
            <a:solidFill>
              <a:srgbClr val="8BA8C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93976" y="914400"/>
            <a:ext cx="1463040" cy="1234440"/>
          </a:xfrm>
          <a:prstGeom prst="rect">
            <a:avLst/>
          </a:prstGeom>
          <a:solidFill>
            <a:srgbClr val="172A45"/>
          </a:solidFill>
          <a:ln w="2286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93976" y="914400"/>
            <a:ext cx="1463040" cy="64008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42616" y="1005840"/>
            <a:ext cx="365760" cy="36576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7" name="Text 15"/>
          <p:cNvSpPr/>
          <p:nvPr/>
        </p:nvSpPr>
        <p:spPr>
          <a:xfrm>
            <a:off x="2642616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57984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57984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chain / thumbprint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93592" y="1531620"/>
            <a:ext cx="210312" cy="0"/>
          </a:xfrm>
          <a:prstGeom prst="line">
            <a:avLst/>
          </a:prstGeom>
          <a:noFill/>
          <a:ln w="19050">
            <a:solidFill>
              <a:srgbClr val="8BA8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840480" y="914400"/>
            <a:ext cx="1463040" cy="1234440"/>
          </a:xfrm>
          <a:prstGeom prst="rect">
            <a:avLst/>
          </a:prstGeom>
          <a:solidFill>
            <a:srgbClr val="172A45"/>
          </a:solidFill>
          <a:ln w="2286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914400"/>
            <a:ext cx="1463040" cy="640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0" y="1005840"/>
            <a:ext cx="365760" cy="36576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04488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04488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contains cnf claim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cert thumbprint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0096" y="1531620"/>
            <a:ext cx="210312" cy="0"/>
          </a:xfrm>
          <a:prstGeom prst="line">
            <a:avLst/>
          </a:prstGeom>
          <a:noFill/>
          <a:ln w="19050">
            <a:solidFill>
              <a:srgbClr val="8BA8C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86984" y="914400"/>
            <a:ext cx="1463040" cy="1234440"/>
          </a:xfrm>
          <a:prstGeom prst="rect">
            <a:avLst/>
          </a:prstGeom>
          <a:solidFill>
            <a:srgbClr val="172A45"/>
          </a:solidFill>
          <a:ln w="2286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86984" y="914400"/>
            <a:ext cx="1463040" cy="64008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135624" y="1005840"/>
            <a:ext cx="365760" cy="365760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50992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with PoP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50992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AT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in every request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86600" y="1531620"/>
            <a:ext cx="210312" cy="0"/>
          </a:xfrm>
          <a:prstGeom prst="line">
            <a:avLst/>
          </a:prstGeom>
          <a:noFill/>
          <a:ln w="19050">
            <a:solidFill>
              <a:srgbClr val="8BA8C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33488" y="914400"/>
            <a:ext cx="1463040" cy="1234440"/>
          </a:xfrm>
          <a:prstGeom prst="rect">
            <a:avLst/>
          </a:prstGeom>
          <a:solidFill>
            <a:srgbClr val="172A45"/>
          </a:solidFill>
          <a:ln w="22860">
            <a:solidFill>
              <a:srgbClr val="FF4D6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914400"/>
            <a:ext cx="1463040" cy="64008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37" name="Shape 35"/>
          <p:cNvSpPr/>
          <p:nvPr/>
        </p:nvSpPr>
        <p:spPr>
          <a:xfrm>
            <a:off x="7882128" y="1005840"/>
            <a:ext cx="365760" cy="36576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38" name="Text 36"/>
          <p:cNvSpPr/>
          <p:nvPr/>
        </p:nvSpPr>
        <p:spPr>
          <a:xfrm>
            <a:off x="7882128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97496" y="141732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97496" y="1691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AT thumbprint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presented cert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2304288"/>
            <a:ext cx="4069080" cy="2633472"/>
          </a:xfrm>
          <a:prstGeom prst="rect">
            <a:avLst/>
          </a:prstGeom>
          <a:solidFill>
            <a:srgbClr val="172A45"/>
          </a:solidFill>
          <a:ln w="1524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7472" y="2304288"/>
            <a:ext cx="54864" cy="263347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" y="23774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" y="2615184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/ PSD2 APIs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app must prove it holds the cert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its AT on every call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mTLS + PoP?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AT is stolen, attacker cannot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— they lack the private key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PingFederate, Okta FGA,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AD, FAPI-compliant APIs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09160" y="2304288"/>
            <a:ext cx="4069080" cy="2633472"/>
          </a:xfrm>
          <a:prstGeom prst="rect">
            <a:avLst/>
          </a:prstGeom>
          <a:solidFill>
            <a:srgbClr val="172A45"/>
          </a:solidFill>
          <a:ln w="1524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304288"/>
            <a:ext cx="54864" cy="263347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7" name="Text 45"/>
          <p:cNvSpPr/>
          <p:nvPr/>
        </p:nvSpPr>
        <p:spPr>
          <a:xfrm>
            <a:off x="4828032" y="23774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28032" y="2615184"/>
            <a:ext cx="3794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binds identity to the TLS layer 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the application layer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 claim in JWT AT links token 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certificate thumbprint (S256)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 must validate BOTH: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AND the presented cert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= Proof that the client possesses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— not just the token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Stolen tokens are useless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corresponding cert/key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7472" y="4974336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8705: OAuth 2.0 Mutual-TLS Client Authentication and Certificate-Bound Access Tokens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OAuth2 Client Authentication &amp; mTLS Proof of Possession</dc:title>
  <dc:subject>PptxGenJS Presentation</dc:subject>
  <dc:creator>PptxGenJS</dc:creator>
  <cp:lastModifiedBy>PptxGenJS</cp:lastModifiedBy>
  <cp:revision>1</cp:revision>
  <dcterms:created xsi:type="dcterms:W3CDTF">2026-05-03T15:08:33Z</dcterms:created>
  <dcterms:modified xsi:type="dcterms:W3CDTF">2026-05-03T15:08:33Z</dcterms:modified>
</cp:coreProperties>
</file>