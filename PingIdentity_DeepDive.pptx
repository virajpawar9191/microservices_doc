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822960"/>
            <a:ext cx="2286000" cy="2286000"/>
          </a:xfrm>
          <a:prstGeom prst="ellipse">
            <a:avLst/>
          </a:prstGeom>
          <a:solidFill>
            <a:srgbClr val="1E3A6E">
              <a:alpha val="80000"/>
            </a:srgbClr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-274320"/>
            <a:ext cx="1645920" cy="1645920"/>
          </a:xfrm>
          <a:prstGeom prst="ellipse">
            <a:avLst/>
          </a:prstGeom>
          <a:solidFill>
            <a:srgbClr val="00A8A8">
              <a:alpha val="40000"/>
            </a:srgbClr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6459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645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566928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Identity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274320" y="117043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IAM Platform Overview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4114800" cy="32004"/>
          </a:xfrm>
          <a:prstGeom prst="rect">
            <a:avLst/>
          </a:prstGeom>
          <a:solidFill>
            <a:srgbClr val="F4A836"/>
          </a:solidFill>
          <a:ln w="12700">
            <a:solidFill>
              <a:srgbClr val="F4A836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783080"/>
            <a:ext cx="384048" cy="38404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49808" y="178308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Ping Identity?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49808" y="2157984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Identity &amp; Access Management (IAM) platform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Secures users, devices, APIs, and applications at scale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by 60%+ of Fortune 100 companies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74320" y="309067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4A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COMPONENTS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01168" y="3401568"/>
            <a:ext cx="2057400" cy="1417320"/>
          </a:xfrm>
          <a:prstGeom prst="rect">
            <a:avLst/>
          </a:prstGeom>
          <a:solidFill>
            <a:srgbClr val="1E3A6E"/>
          </a:solidFill>
          <a:ln w="12700">
            <a:solidFill>
              <a:srgbClr val="00A8A8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" y="3456432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46888" y="382219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PingFederate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246888" y="4096512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Federation Hub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AA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/ OAuth2 / SAML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2432304" y="3401568"/>
            <a:ext cx="2057400" cy="1417320"/>
          </a:xfrm>
          <a:prstGeom prst="rect">
            <a:avLst/>
          </a:prstGeom>
          <a:solidFill>
            <a:srgbClr val="1E3A6E"/>
          </a:solidFill>
          <a:ln w="12700">
            <a:solidFill>
              <a:srgbClr val="00A8A8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6312" y="3456432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478024" y="382219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PingID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2478024" y="4096512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/ Adaptive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AA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4663440" y="3401568"/>
            <a:ext cx="2057400" cy="1417320"/>
          </a:xfrm>
          <a:prstGeom prst="rect">
            <a:avLst/>
          </a:prstGeom>
          <a:solidFill>
            <a:srgbClr val="1E3A6E"/>
          </a:solidFill>
          <a:ln w="12700">
            <a:solidFill>
              <a:srgbClr val="00A8A8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448" y="3456432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709160" y="382219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PingAccess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709160" y="4096512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&amp;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AA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Management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6894576" y="3401568"/>
            <a:ext cx="2057400" cy="1417320"/>
          </a:xfrm>
          <a:prstGeom prst="rect">
            <a:avLst/>
          </a:prstGeom>
          <a:solidFill>
            <a:srgbClr val="1E3A6E"/>
          </a:solidFill>
          <a:ln w="12700">
            <a:solidFill>
              <a:srgbClr val="00A8A8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8584" y="3456432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940296" y="382219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PingDirectory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6940296" y="4096512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LDAP / DS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AA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Store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201168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F4A836"/>
          </a:solidFill>
          <a:ln w="12700">
            <a:solidFill>
              <a:srgbClr val="F4A8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20116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E5A"/>
                </a:solidFill>
              </a:rPr>
              <a:t>02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1828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IAM Concepts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201168" y="1115568"/>
            <a:ext cx="2798064" cy="1719072"/>
          </a:xfrm>
          <a:prstGeom prst="rect">
            <a:avLst/>
          </a:prstGeom>
          <a:solidFill>
            <a:srgbClr val="F0F7FA"/>
          </a:solidFill>
          <a:ln w="12700">
            <a:solidFill>
              <a:srgbClr val="D8E8E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1115568"/>
            <a:ext cx="64008" cy="1719072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184" y="1225296"/>
            <a:ext cx="301752" cy="30175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04088" y="1207008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AuthN vs AuthZ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29184" y="1572768"/>
            <a:ext cx="2615184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(AuthN): WHO are you?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(AuthZ): WHAT can you do?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handles both via policies &amp; tokens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182112" y="1115568"/>
            <a:ext cx="2798064" cy="1719072"/>
          </a:xfrm>
          <a:prstGeom prst="rect">
            <a:avLst/>
          </a:prstGeom>
          <a:solidFill>
            <a:srgbClr val="F0F7FA"/>
          </a:solidFill>
          <a:ln w="12700">
            <a:solidFill>
              <a:srgbClr val="D8E8E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82112" y="1115568"/>
            <a:ext cx="64008" cy="1719072"/>
          </a:xfrm>
          <a:prstGeom prst="rect">
            <a:avLst/>
          </a:prstGeom>
          <a:solidFill>
            <a:srgbClr val="5B6EAE"/>
          </a:solidFill>
          <a:ln w="12700">
            <a:solidFill>
              <a:srgbClr val="5B6EAE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128" y="1225296"/>
            <a:ext cx="301752" cy="30175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85032" y="1207008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Sign-On (SSO)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310128" y="1572768"/>
            <a:ext cx="2615184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once → access all apps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SAML assertions or OIDC tokens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PingFederate is the SSO hub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163056" y="1115568"/>
            <a:ext cx="2798064" cy="1719072"/>
          </a:xfrm>
          <a:prstGeom prst="rect">
            <a:avLst/>
          </a:prstGeom>
          <a:solidFill>
            <a:srgbClr val="F0F7FA"/>
          </a:solidFill>
          <a:ln w="12700">
            <a:solidFill>
              <a:srgbClr val="D8E8E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63056" y="1115568"/>
            <a:ext cx="64008" cy="1719072"/>
          </a:xfrm>
          <a:prstGeom prst="rect">
            <a:avLst/>
          </a:prstGeom>
          <a:solidFill>
            <a:srgbClr val="F4A836"/>
          </a:solidFill>
          <a:ln w="12700">
            <a:solidFill>
              <a:srgbClr val="F4A836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225296"/>
            <a:ext cx="301752" cy="30175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665976" y="1207008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(Multi-Factor Auth)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291072" y="1572768"/>
            <a:ext cx="2615184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you know + have + are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PingID: push, OTP, biometric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MFA based on risk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201168" y="3035808"/>
            <a:ext cx="2798064" cy="1719072"/>
          </a:xfrm>
          <a:prstGeom prst="rect">
            <a:avLst/>
          </a:prstGeom>
          <a:solidFill>
            <a:srgbClr val="F0F7FA"/>
          </a:solidFill>
          <a:ln w="12700">
            <a:solidFill>
              <a:srgbClr val="D8E8E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201168" y="3035808"/>
            <a:ext cx="64008" cy="1719072"/>
          </a:xfrm>
          <a:prstGeom prst="rect">
            <a:avLst/>
          </a:prstGeom>
          <a:solidFill>
            <a:srgbClr val="6DAE6E"/>
          </a:solidFill>
          <a:ln w="12700">
            <a:solidFill>
              <a:srgbClr val="6DAE6E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" y="3145536"/>
            <a:ext cx="301752" cy="30175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04088" y="3127248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Federation Protocols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329184" y="3493008"/>
            <a:ext cx="2615184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 2.0 — XML-based SSO (enterprise)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— delegated authorization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— identity layer on OAuth2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3182112" y="3035808"/>
            <a:ext cx="2798064" cy="1719072"/>
          </a:xfrm>
          <a:prstGeom prst="rect">
            <a:avLst/>
          </a:prstGeom>
          <a:solidFill>
            <a:srgbClr val="F0F7FA"/>
          </a:solidFill>
          <a:ln w="12700">
            <a:solidFill>
              <a:srgbClr val="D8E8E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3182112" y="3035808"/>
            <a:ext cx="64008" cy="171907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128" y="3145536"/>
            <a:ext cx="301752" cy="30175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685032" y="3127248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3310128" y="3493008"/>
            <a:ext cx="2615184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"Never trust, always verify"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auth + least privilege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enforces per-request policies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6163056" y="3035808"/>
            <a:ext cx="2798064" cy="1719072"/>
          </a:xfrm>
          <a:prstGeom prst="rect">
            <a:avLst/>
          </a:prstGeom>
          <a:solidFill>
            <a:srgbClr val="F0F7FA"/>
          </a:solidFill>
          <a:ln w="12700">
            <a:solidFill>
              <a:srgbClr val="D8E8E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6163056" y="3035808"/>
            <a:ext cx="64008" cy="1719072"/>
          </a:xfrm>
          <a:prstGeom prst="rect">
            <a:avLst/>
          </a:prstGeom>
          <a:solidFill>
            <a:srgbClr val="7A5EAF"/>
          </a:solidFill>
          <a:ln w="12700">
            <a:solidFill>
              <a:srgbClr val="7A5EAF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1072" y="3145536"/>
            <a:ext cx="301752" cy="301752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665976" y="3127248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Lifecycle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6291072" y="3493008"/>
            <a:ext cx="2615184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Token (short-lived, API calls)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Token (long-lived, renew access)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Token (user identity — OIDC)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A836"/>
          </a:solidFill>
          <a:ln w="12700">
            <a:solidFill>
              <a:srgbClr val="F4A8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627"/>
          </a:solidFill>
          <a:ln w="12700">
            <a:solidFill>
              <a:srgbClr val="0A16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6459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F4A836"/>
          </a:solidFill>
          <a:ln w="12700">
            <a:solidFill>
              <a:srgbClr val="F4A8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645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E5A"/>
                </a:solidFill>
              </a:rPr>
              <a:t>03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128016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Flow — Real-World Demo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68680" y="65836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Banking Login with PingFederate + PingID MFA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01168" y="1115568"/>
            <a:ext cx="1481328" cy="1481328"/>
          </a:xfrm>
          <a:prstGeom prst="ellipse">
            <a:avLst/>
          </a:prstGeom>
          <a:solidFill>
            <a:srgbClr val="1E3A6E"/>
          </a:solidFill>
          <a:ln w="25400">
            <a:solidFill>
              <a:srgbClr val="00A8A8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53312"/>
            <a:ext cx="658368" cy="65836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298448" y="1078992"/>
            <a:ext cx="310896" cy="310896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98448" y="1078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01168" y="263347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01168" y="290779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A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Visits App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1719072" y="1856232"/>
            <a:ext cx="237744" cy="0"/>
          </a:xfrm>
          <a:prstGeom prst="line">
            <a:avLst/>
          </a:prstGeom>
          <a:noFill/>
          <a:ln w="25400">
            <a:solidFill>
              <a:srgbClr val="00A8A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975104" y="1115568"/>
            <a:ext cx="1481328" cy="1481328"/>
          </a:xfrm>
          <a:prstGeom prst="ellipse">
            <a:avLst/>
          </a:prstGeom>
          <a:solidFill>
            <a:srgbClr val="1E3A6E"/>
          </a:solidFill>
          <a:ln w="25400">
            <a:solidFill>
              <a:srgbClr val="F4A836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2576" y="1353312"/>
            <a:ext cx="658368" cy="658368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3072384" y="1078992"/>
            <a:ext cx="310896" cy="310896"/>
          </a:xfrm>
          <a:prstGeom prst="ellipse">
            <a:avLst/>
          </a:prstGeom>
          <a:solidFill>
            <a:srgbClr val="F4A836"/>
          </a:solidFill>
          <a:ln w="12700">
            <a:solidFill>
              <a:srgbClr val="F4A836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072384" y="1078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1975104" y="263347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PingFed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1975104" y="290779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A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Redirects to IDP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3493008" y="1856232"/>
            <a:ext cx="237744" cy="0"/>
          </a:xfrm>
          <a:prstGeom prst="line">
            <a:avLst/>
          </a:prstGeom>
          <a:noFill/>
          <a:ln w="25400">
            <a:solidFill>
              <a:srgbClr val="F4A836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749040" y="1115568"/>
            <a:ext cx="1481328" cy="1481328"/>
          </a:xfrm>
          <a:prstGeom prst="ellipse">
            <a:avLst/>
          </a:prstGeom>
          <a:solidFill>
            <a:srgbClr val="1E3A6E"/>
          </a:solidFill>
          <a:ln w="25400">
            <a:solidFill>
              <a:srgbClr val="5B6EAE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512" y="1353312"/>
            <a:ext cx="658368" cy="658368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4846320" y="1078992"/>
            <a:ext cx="310896" cy="310896"/>
          </a:xfrm>
          <a:prstGeom prst="ellipse">
            <a:avLst/>
          </a:prstGeom>
          <a:solidFill>
            <a:srgbClr val="5B6EAE"/>
          </a:solidFill>
          <a:ln w="12700">
            <a:solidFill>
              <a:srgbClr val="5B6EAE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846320" y="1078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3749040" y="263347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AuthN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3749040" y="290779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A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Verified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5266944" y="1856232"/>
            <a:ext cx="237744" cy="0"/>
          </a:xfrm>
          <a:prstGeom prst="line">
            <a:avLst/>
          </a:prstGeom>
          <a:noFill/>
          <a:ln w="25400">
            <a:solidFill>
              <a:srgbClr val="5B6EAE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5522976" y="1115568"/>
            <a:ext cx="1481328" cy="1481328"/>
          </a:xfrm>
          <a:prstGeom prst="ellipse">
            <a:avLst/>
          </a:prstGeom>
          <a:solidFill>
            <a:srgbClr val="1E3A6E"/>
          </a:solidFill>
          <a:ln w="25400">
            <a:solidFill>
              <a:srgbClr val="6DAE6E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0448" y="1353312"/>
            <a:ext cx="658368" cy="658368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6620256" y="1078992"/>
            <a:ext cx="310896" cy="310896"/>
          </a:xfrm>
          <a:prstGeom prst="ellipse">
            <a:avLst/>
          </a:prstGeom>
          <a:solidFill>
            <a:srgbClr val="6DAE6E"/>
          </a:solidFill>
          <a:ln w="12700">
            <a:solidFill>
              <a:srgbClr val="6DAE6E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6620256" y="1078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5522976" y="263347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PingID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5522976" y="290779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A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Push / OTP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7040880" y="1856232"/>
            <a:ext cx="237744" cy="0"/>
          </a:xfrm>
          <a:prstGeom prst="line">
            <a:avLst/>
          </a:prstGeom>
          <a:noFill/>
          <a:ln w="25400">
            <a:solidFill>
              <a:srgbClr val="6DAE6E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7296912" y="1115568"/>
            <a:ext cx="1481328" cy="1481328"/>
          </a:xfrm>
          <a:prstGeom prst="ellipse">
            <a:avLst/>
          </a:prstGeom>
          <a:solidFill>
            <a:srgbClr val="1E3A6E"/>
          </a:solidFill>
          <a:ln w="25400">
            <a:solidFill>
              <a:srgbClr val="B85042"/>
            </a:solidFill>
            <a:prstDash val="solid"/>
          </a:ln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4384" y="1353312"/>
            <a:ext cx="658368" cy="658368"/>
          </a:xfrm>
          <a:prstGeom prst="rect">
            <a:avLst/>
          </a:prstGeom>
        </p:spPr>
      </p:pic>
      <p:sp>
        <p:nvSpPr>
          <p:cNvPr id="38" name="Shape 31"/>
          <p:cNvSpPr/>
          <p:nvPr/>
        </p:nvSpPr>
        <p:spPr>
          <a:xfrm>
            <a:off x="8394192" y="1078992"/>
            <a:ext cx="310896" cy="310896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8394192" y="1078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40" name="Text 33"/>
          <p:cNvSpPr/>
          <p:nvPr/>
        </p:nvSpPr>
        <p:spPr>
          <a:xfrm>
            <a:off x="7296912" y="263347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100" dirty="0"/>
          </a:p>
        </p:txBody>
      </p:sp>
      <p:sp>
        <p:nvSpPr>
          <p:cNvPr id="41" name="Text 34"/>
          <p:cNvSpPr/>
          <p:nvPr/>
        </p:nvSpPr>
        <p:spPr>
          <a:xfrm>
            <a:off x="7296912" y="290779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A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Issued</a:t>
            </a:r>
            <a:endParaRPr lang="en-US" sz="900" dirty="0"/>
          </a:p>
        </p:txBody>
      </p:sp>
      <p:sp>
        <p:nvSpPr>
          <p:cNvPr id="42" name="Shape 35"/>
          <p:cNvSpPr/>
          <p:nvPr/>
        </p:nvSpPr>
        <p:spPr>
          <a:xfrm>
            <a:off x="201168" y="3310128"/>
            <a:ext cx="8741664" cy="1325880"/>
          </a:xfrm>
          <a:prstGeom prst="rect">
            <a:avLst/>
          </a:prstGeom>
          <a:solidFill>
            <a:srgbClr val="1A2E5A">
              <a:alpha val="80000"/>
            </a:srgbClr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329184" y="338328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4A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IN THE BACKEND</a:t>
            </a:r>
            <a:endParaRPr lang="en-US" sz="900" dirty="0"/>
          </a:p>
        </p:txBody>
      </p:sp>
      <p:sp>
        <p:nvSpPr>
          <p:cNvPr id="44" name="Text 37"/>
          <p:cNvSpPr/>
          <p:nvPr/>
        </p:nvSpPr>
        <p:spPr>
          <a:xfrm>
            <a:off x="329184" y="3639312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PingFederate issues SAML assertion or OAuth2 token after successful authentication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PingID triggers adaptive MFA — risk score determined by device, location, behavior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Token (JWT) contains scopes &amp; claims — validated by PingAccess at resource server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PingDirectory stores user attributes, policies, and identity data in real-time</a:t>
            </a:r>
            <a:endParaRPr lang="en-US" sz="1050" dirty="0"/>
          </a:p>
        </p:txBody>
      </p:sp>
      <p:sp>
        <p:nvSpPr>
          <p:cNvPr id="45" name="Text 38"/>
          <p:cNvSpPr/>
          <p:nvPr/>
        </p:nvSpPr>
        <p:spPr>
          <a:xfrm>
            <a:off x="201168" y="4828032"/>
            <a:ext cx="8741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6080"/>
                </a:solidFill>
              </a:rPr>
              <a:t>PingAM Deep Dive  |  IAM Architecture  |  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Ping Identity Deep Dive</dc:title>
  <dc:subject>PptxGenJS Presentation</dc:subject>
  <dc:creator>IAM Architect</dc:creator>
  <cp:lastModifiedBy>IAM Architect</cp:lastModifiedBy>
  <cp:revision>1</cp:revision>
  <dcterms:created xsi:type="dcterms:W3CDTF">2026-05-03T07:46:20Z</dcterms:created>
  <dcterms:modified xsi:type="dcterms:W3CDTF">2026-05-03T07:46:20Z</dcterms:modified>
</cp:coreProperties>
</file>